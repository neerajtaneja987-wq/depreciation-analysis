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3"/>
  <c:chart>
    <c:title>
      <c:tx>
        <c:rich>
          <a:bodyPr/>
          <a:lstStyle/>
          <a:p>
            <a:r>
              <a:rPr lang="en-IN"/>
              <a:t>Annual depreciation expense (₹)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Straight Line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45000</c:v>
                </c:pt>
                <c:pt idx="1">
                  <c:v>45000</c:v>
                </c:pt>
                <c:pt idx="2">
                  <c:v>45000</c:v>
                </c:pt>
                <c:pt idx="3">
                  <c:v>45000</c:v>
                </c:pt>
                <c:pt idx="4">
                  <c:v>45000</c:v>
                </c:pt>
                <c:pt idx="5">
                  <c:v>45000</c:v>
                </c:pt>
                <c:pt idx="6">
                  <c:v>45000</c:v>
                </c:pt>
                <c:pt idx="7">
                  <c:v>45000</c:v>
                </c:pt>
                <c:pt idx="8">
                  <c:v>45000</c:v>
                </c:pt>
                <c:pt idx="9">
                  <c:v>45000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50-4D23-B63F-576E60668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Diminishing Balance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  <c:pt idx="5">
                  <c:v>Year 6</c:v>
                </c:pt>
                <c:pt idx="6">
                  <c:v>Year 7</c:v>
                </c:pt>
                <c:pt idx="7">
                  <c:v>Year 8</c:v>
                </c:pt>
                <c:pt idx="8">
                  <c:v>Year 9</c:v>
                </c:pt>
                <c:pt idx="9">
                  <c:v>Year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102835.88263785925</c:v>
                </c:pt>
                <c:pt idx="1">
                  <c:v>81685.445122044126</c:v>
                </c:pt>
                <c:pt idx="2">
                  <c:v>64885.05542646048</c:v>
                </c:pt>
                <c:pt idx="3">
                  <c:v>51540.031536887516</c:v>
                </c:pt>
                <c:pt idx="4">
                  <c:v>40939.70226832966</c:v>
                </c:pt>
                <c:pt idx="5">
                  <c:v>32519.561432939961</c:v>
                </c:pt>
                <c:pt idx="6">
                  <c:v>25831.205827035024</c:v>
                </c:pt>
                <c:pt idx="7">
                  <c:v>20518.456125388308</c:v>
                </c:pt>
                <c:pt idx="8">
                  <c:v>16298.389033347312</c:v>
                </c:pt>
                <c:pt idx="9">
                  <c:v>12946.27058970836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50-4D23-B63F-576E606684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960120"/>
            <a:ext cx="5943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96DCD2"/>
                </a:solidFill>
                <a:latin typeface="Aptos"/>
              </a:rPr>
              <a:t>COACHX  |  EXCEL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987552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Comparative Analysis
of Depreciation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7840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900" b="0">
                <a:solidFill>
                  <a:srgbClr val="DAE4EF"/>
                </a:solidFill>
                <a:latin typeface="Aptos"/>
              </a:rPr>
              <a:t>Straight Line Method vs. Diminishing Balance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8961120" cy="2554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  <a:latin typeface="Aptos"/>
              </a:rPr>
              <a:t>Prepared by: </a:t>
            </a:r>
            <a:r>
              <a:rPr lang="en-IN" sz="1300" dirty="0">
                <a:solidFill>
                  <a:srgbClr val="FFFFFF"/>
                </a:solidFill>
                <a:latin typeface="Aptos"/>
              </a:rPr>
              <a:t> Neeraj</a:t>
            </a:r>
            <a:r>
              <a:rPr sz="1300" b="0" dirty="0">
                <a:solidFill>
                  <a:srgbClr val="FFFFFF"/>
                </a:solidFill>
                <a:latin typeface="Aptos"/>
              </a:rPr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97840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>
                <a:solidFill>
                  <a:srgbClr val="B4C5D8"/>
                </a:solidFill>
                <a:latin typeface="Aptos"/>
              </a:rPr>
              <a:t>Excel-based calculation • Year-by-year comparison •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82B49"/>
                </a:solidFill>
                <a:latin typeface="Apto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0" y="438912"/>
            <a:ext cx="23774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01 •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Objective: compare how two depreciation methods allocate an asset’s depreciable cost over its useful life.</a:t>
            </a:r>
          </a:p>
          <a:p>
            <a:pPr>
              <a:spcAft>
                <a:spcPts val="18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Methods examined: Straight Line (SL) and Diminishing Balance (DB).</a:t>
            </a:r>
          </a:p>
          <a:p>
            <a:pPr>
              <a:spcAft>
                <a:spcPts val="18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Approach: calculate depreciation year by year in Excel, compare expense patterns, and review closing book values.</a:t>
            </a:r>
          </a:p>
          <a:p>
            <a:pPr>
              <a:spcAft>
                <a:spcPts val="18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Business relevance: depreciation affects reported expenses, asset carrying values, and the timing of reported profit.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0">
                <a:solidFill>
                  <a:srgbClr val="5A6778"/>
                </a:solidFill>
                <a:latin typeface="Aptos"/>
              </a:rPr>
              <a:t>COACHX EXCEL PROJECT  •  Comparative Analysis of Depreciation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82B49"/>
                </a:solidFill>
                <a:latin typeface="Aptos"/>
              </a:rPr>
              <a:t>Asset Details &amp;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0" y="438912"/>
            <a:ext cx="23774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02 •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5146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63039"/>
            <a:ext cx="21854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5A6778"/>
                </a:solidFill>
                <a:latin typeface="Aptos"/>
              </a:rPr>
              <a:t>TOTAL ASSET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92807"/>
            <a:ext cx="2185416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2E67AA"/>
                </a:solidFill>
                <a:latin typeface="Aptos"/>
              </a:rPr>
              <a:t>₹500,000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5146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93592" y="1463039"/>
            <a:ext cx="21854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5A6778"/>
                </a:solidFill>
                <a:latin typeface="Aptos"/>
              </a:rPr>
              <a:t>SCRAP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892807"/>
            <a:ext cx="2185416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239187"/>
                </a:solidFill>
                <a:latin typeface="Aptos"/>
              </a:rPr>
              <a:t>₹50,000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25880"/>
            <a:ext cx="25146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1463039"/>
            <a:ext cx="21854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5A6778"/>
                </a:solidFill>
                <a:latin typeface="Aptos"/>
              </a:rPr>
              <a:t>USEFUL LIFE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892807"/>
            <a:ext cx="2185416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E08F38"/>
                </a:solidFill>
                <a:latin typeface="Aptos"/>
              </a:rPr>
              <a:t>10 years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25880"/>
            <a:ext cx="25146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88552" y="1463039"/>
            <a:ext cx="21854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5A6778"/>
                </a:solidFill>
                <a:latin typeface="Aptos"/>
              </a:rPr>
              <a:t>DEPRECIABLE AMOUNT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1892807"/>
            <a:ext cx="2185416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2E67AA"/>
                </a:solidFill>
                <a:latin typeface="Aptos"/>
              </a:rPr>
              <a:t>₹450,000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011680" y="2971800"/>
          <a:ext cx="8138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73152" marR="54864" marT="36576" marB="2743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73152" marR="54864" marT="36576" marB="27432" anchor="ctr"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Base asset cost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₹450,000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Additional asset cost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₹50,000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Total asset cost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₹500,000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Estimated scrap/residual value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₹50,000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Useful life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10 years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Depreciable amount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₹450,000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0">
                <a:solidFill>
                  <a:srgbClr val="5A6778"/>
                </a:solidFill>
                <a:latin typeface="Aptos"/>
              </a:rPr>
              <a:t>COACHX EXCEL PROJECT  •  Comparative Analysis of Depreciation 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82B49"/>
                </a:solidFill>
                <a:latin typeface="Aptos"/>
              </a:rPr>
              <a:t>Methodology &amp; Excel Calculations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0" y="438912"/>
            <a:ext cx="23774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03 •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5029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900" b="1">
                <a:solidFill>
                  <a:srgbClr val="2E67AA"/>
                </a:solidFill>
                <a:latin typeface="Aptos"/>
              </a:rPr>
              <a:t>1. Straight Line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98348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232A34"/>
                </a:solidFill>
                <a:latin typeface="Aptos"/>
              </a:rPr>
              <a:t>Annual depreciation = (Asset cost − Scrap value) ÷ Useful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49834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239187"/>
                </a:solidFill>
                <a:latin typeface="Aptos"/>
              </a:rPr>
              <a:t>= (₹500,000 − ₹50,000) ÷ 10 = ₹45,000 per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25880"/>
            <a:ext cx="5029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900" b="1">
                <a:solidFill>
                  <a:srgbClr val="2E67AA"/>
                </a:solidFill>
                <a:latin typeface="Aptos"/>
              </a:rPr>
              <a:t>2. Diminishing Balance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498348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232A34"/>
                </a:solidFill>
                <a:latin typeface="Aptos"/>
              </a:rPr>
              <a:t>Depreciation each year = Opening book value × Depreciation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651760"/>
            <a:ext cx="49834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239187"/>
                </a:solidFill>
                <a:latin typeface="Aptos"/>
              </a:rPr>
              <a:t>Excel-derived rate ≈ 20.57% per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82B49"/>
                </a:solidFill>
                <a:latin typeface="Aptos"/>
              </a:rPr>
              <a:t>Excel functions / techniques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241280" cy="17373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SLN function / formula for Straight Line depreciation</a:t>
            </a:r>
          </a:p>
          <a:p>
            <a:pPr>
              <a:spcAft>
                <a:spcPts val="1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Year-by-year schedule for Diminishing Balance depreciation</a:t>
            </a:r>
          </a:p>
          <a:p>
            <a:pPr>
              <a:spcAft>
                <a:spcPts val="1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Cell references and formulas to keep calculations consistent</a:t>
            </a:r>
          </a:p>
          <a:p>
            <a:pPr>
              <a:spcAft>
                <a:spcPts val="18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Summary table for comparing annual depreciation and closing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0">
                <a:solidFill>
                  <a:srgbClr val="5A6778"/>
                </a:solidFill>
                <a:latin typeface="Aptos"/>
              </a:rPr>
              <a:t>COACHX EXCEL PROJECT  •  Comparative Analysis of Depreciation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82B49"/>
                </a:solidFill>
                <a:latin typeface="Aptos"/>
              </a:rPr>
              <a:t>Year-by-Year Depreciation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0" y="438912"/>
            <a:ext cx="23774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04 • 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100584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35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Year</a:t>
                      </a:r>
                    </a:p>
                  </a:txBody>
                  <a:tcPr marL="73152" marR="54864" marT="36576" marB="2743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Straight Line Depreciation</a:t>
                      </a:r>
                    </a:p>
                  </a:txBody>
                  <a:tcPr marL="73152" marR="54864" marT="36576" marB="2743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Diminishing Balance Depreciation</a:t>
                      </a:r>
                    </a:p>
                  </a:txBody>
                  <a:tcPr marL="73152" marR="54864" marT="36576" marB="27432" anchor="ctr"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Difference (DB − SL)</a:t>
                      </a:r>
                    </a:p>
                  </a:txBody>
                  <a:tcPr marL="73152" marR="54864" marT="36576" marB="27432" anchor="ctr">
                    <a:solidFill>
                      <a:srgbClr val="18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₹45,000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₹102,836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₹57,836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₹45,000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₹81,685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₹36,685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₹45,000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₹64,885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₹19,885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₹45,000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₹51,540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₹6,540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₹45,000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₹40,940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₹-4,060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₹45,000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₹32,520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₹-12,480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₹45,000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₹25,831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₹-19,169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₹45,000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₹20,518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₹-24,482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13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₹45,000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₹16,298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₹-28,702</a:t>
                      </a:r>
                    </a:p>
                  </a:txBody>
                  <a:tcPr marL="73152" marR="54864" marT="36576" marB="27432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13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₹45,000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₹12,946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A34"/>
                          </a:solidFill>
                          <a:latin typeface="Aptos"/>
                        </a:defRPr>
                      </a:pPr>
                      <a:r>
                        <a:t>₹-32,054</a:t>
                      </a:r>
                    </a:p>
                  </a:txBody>
                  <a:tcPr marL="73152" marR="54864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0">
                <a:solidFill>
                  <a:srgbClr val="5A6778"/>
                </a:solidFill>
                <a:latin typeface="Aptos"/>
              </a:rPr>
              <a:t>COACHX EXCEL PROJECT  •  Comparative Analysis of Depreciation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82B49"/>
                </a:solidFill>
                <a:latin typeface="Aptos"/>
              </a:rPr>
              <a:t>Annual Depreciation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0" y="438912"/>
            <a:ext cx="23774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05 • VISUAL ANALYSIS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1280160"/>
          <a:ext cx="106984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806440"/>
            <a:ext cx="104241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5A6778"/>
                </a:solidFill>
                <a:latin typeface="Aptos"/>
              </a:rPr>
              <a:t>Interpretation: Straight Line stays constant; Diminishing Balance starts higher and declines each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0">
                <a:solidFill>
                  <a:srgbClr val="5A6778"/>
                </a:solidFill>
                <a:latin typeface="Aptos"/>
              </a:rPr>
              <a:t>COACHX EXCEL PROJECT  •  Comparative Analysis of Depreciation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82B49"/>
                </a:solidFill>
                <a:latin typeface="Aptos"/>
              </a:rPr>
              <a:t>Key Findings &amp; 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0" y="438912"/>
            <a:ext cx="23774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06 •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200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63039"/>
            <a:ext cx="28712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5A6778"/>
                </a:solidFill>
                <a:latin typeface="Aptos"/>
              </a:rPr>
              <a:t>STRAIGHT LINE /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7"/>
            <a:ext cx="2871216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2E67AA"/>
                </a:solidFill>
                <a:latin typeface="Aptos"/>
              </a:rPr>
              <a:t>₹45,000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200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463039"/>
            <a:ext cx="28712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5A6778"/>
                </a:solidFill>
                <a:latin typeface="Aptos"/>
              </a:rPr>
              <a:t>DB DEPRECIATION · YEAR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892807"/>
            <a:ext cx="2871216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239187"/>
                </a:solidFill>
                <a:latin typeface="Aptos"/>
              </a:rPr>
              <a:t>₹102,836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200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463039"/>
            <a:ext cx="2871216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5A6778"/>
                </a:solidFill>
                <a:latin typeface="Aptos"/>
              </a:rPr>
              <a:t>DB DEPRECIATION · YEAR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92807"/>
            <a:ext cx="2871216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300" b="1">
                <a:solidFill>
                  <a:srgbClr val="E08F38"/>
                </a:solidFill>
                <a:latin typeface="Aptos"/>
              </a:rPr>
              <a:t>₹12,946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10424160" cy="292608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Straight Line allocates ₹45,000 evenly to each year.</a:t>
            </a:r>
          </a:p>
          <a:p>
            <a:pPr>
              <a:spcAft>
                <a:spcPts val="1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Diminishing Balance records about 2.29× the Straight Line expense in Year 1.</a:t>
            </a:r>
          </a:p>
          <a:p>
            <a:pPr>
              <a:spcAft>
                <a:spcPts val="1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Diminishing Balance expense reduces over time as the opening book value declines.</a:t>
            </a:r>
          </a:p>
          <a:p>
            <a:pPr>
              <a:spcAft>
                <a:spcPts val="1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Both schedules are designed to reach the estimated residual value of ₹50,000 by the end of the 10-year useful life.</a:t>
            </a:r>
          </a:p>
          <a:p>
            <a:pPr>
              <a:spcAft>
                <a:spcPts val="18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The method changes the timing of expense recognition, not the total depreciable amount over the full useful life.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0">
                <a:solidFill>
                  <a:srgbClr val="5A6778"/>
                </a:solidFill>
                <a:latin typeface="Aptos"/>
              </a:rPr>
              <a:t>COACHX EXCEL PROJECT  •  Comparative Analysis of Depreciation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82B49"/>
                </a:solidFill>
                <a:latin typeface="Aptos"/>
              </a:rPr>
              <a:t>Conclusion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32688"/>
            <a:ext cx="1005840" cy="54864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0" y="438912"/>
            <a:ext cx="23774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07 • 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Straight Line is suitable when the asset’s economic benefits are consumed relatively evenly over time.</a:t>
            </a:r>
          </a:p>
          <a:p>
            <a:pPr>
              <a:spcAft>
                <a:spcPts val="18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Diminishing Balance may be more appropriate when the asset provides greater benefits or loses value faster in its early years.</a:t>
            </a:r>
          </a:p>
          <a:p>
            <a:pPr>
              <a:spcAft>
                <a:spcPts val="18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The method should reflect the asset’s usage pattern and applicable accounting policy—not simply the preferred profit outcome.</a:t>
            </a:r>
          </a:p>
          <a:p>
            <a:pPr>
              <a:spcAft>
                <a:spcPts val="18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t>Before final submission, validate the assumptions, formula references, rounding, and yearly closing book values in Excel.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2743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239187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00" b="0">
                <a:solidFill>
                  <a:srgbClr val="5A6778"/>
                </a:solidFill>
                <a:latin typeface="Aptos"/>
              </a:rPr>
              <a:t>COACHX EXCEL PROJECT  •  Comparative Analysis of Depreciation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1">
                <a:solidFill>
                  <a:srgbClr val="5A677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646</Words>
  <Application>Microsoft Office PowerPoint</Application>
  <PresentationFormat>Widescreen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Neeraj Taneja</cp:lastModifiedBy>
  <cp:revision>2</cp:revision>
  <dcterms:created xsi:type="dcterms:W3CDTF">2013-01-27T09:14:16Z</dcterms:created>
  <dcterms:modified xsi:type="dcterms:W3CDTF">2026-10-10T08:52:02Z</dcterms:modified>
  <cp:category/>
</cp:coreProperties>
</file>